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move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7C09119-3477-42C2-BE63-BEE7CC99762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BA5E0A-F168-4F36-8060-FB33484F90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12AF37-3C1D-46A4-BF00-FBABEC6C42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573441-01FF-4121-B531-110BB6A9A7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6B31BD-5348-445E-A9BD-E9F983C78D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64134C-5146-4B6A-9C00-B5AA916E39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5EF8235-7C2B-43CD-B1C0-F71922D15A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BCB889-C7AF-413B-9359-3D6EB82CAF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7B93C1-FA01-4237-91DB-7063956E3E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7132320" y="-731520"/>
            <a:ext cx="3656880" cy="36568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914400" y="3200400"/>
            <a:ext cx="2742480" cy="274248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1005840"/>
            <a:ext cx="7771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8640" y="1508760"/>
            <a:ext cx="77716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Sistem inteligent pentru Predicția Riscului de Diabet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48640" y="352044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Cuciurean Emilian-Petruț  ·  Babeș-Bolyai University  ·  TRSI 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548640" y="3977640"/>
            <a:ext cx="1462320" cy="54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457200" y="2743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400" strike="noStrike">
                <a:solidFill>
                  <a:srgbClr val="00b4d8"/>
                </a:solidFill>
                <a:effectLst/>
                <a:uFillTx/>
                <a:latin typeface="Calibri"/>
              </a:rPr>
              <a:t>CONTEXT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457200" y="64008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 ce contează?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365760" y="1508760"/>
            <a:ext cx="2651040" cy="2285280"/>
          </a:xfrm>
          <a:prstGeom prst="rect">
            <a:avLst/>
          </a:prstGeom>
          <a:solidFill>
            <a:srgbClr val="132840"/>
          </a:solidFill>
          <a:ln w="12700">
            <a:solidFill>
              <a:srgbClr val="00b4d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365760" y="1508760"/>
            <a:ext cx="63360" cy="2285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530280" y="1691640"/>
            <a:ext cx="23767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642M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530280" y="2423160"/>
            <a:ext cx="2395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pacienți diabetici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prognozat până în 2040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3291840" y="1508760"/>
            <a:ext cx="2651040" cy="2285280"/>
          </a:xfrm>
          <a:prstGeom prst="rect">
            <a:avLst/>
          </a:prstGeom>
          <a:solidFill>
            <a:srgbClr val="132840"/>
          </a:solidFill>
          <a:ln w="12700">
            <a:solidFill>
              <a:srgbClr val="00b4d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3291840" y="1508760"/>
            <a:ext cx="63360" cy="2285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3456360" y="1691640"/>
            <a:ext cx="23767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1/10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3456360" y="2423160"/>
            <a:ext cx="2395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adulți vor suferi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 această boală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6217920" y="1508760"/>
            <a:ext cx="2651040" cy="2285280"/>
          </a:xfrm>
          <a:prstGeom prst="rect">
            <a:avLst/>
          </a:prstGeom>
          <a:solidFill>
            <a:srgbClr val="132840"/>
          </a:solidFill>
          <a:ln w="12700">
            <a:solidFill>
              <a:srgbClr val="00b4d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1"/>
          <p:cNvSpPr/>
          <p:nvPr/>
        </p:nvSpPr>
        <p:spPr>
          <a:xfrm>
            <a:off x="6217920" y="1508760"/>
            <a:ext cx="63360" cy="2285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6382440" y="1691640"/>
            <a:ext cx="23767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Mortalitate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6382440" y="2423160"/>
            <a:ext cx="2395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Importanța diagnosticării timpurii a diabetului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4"/>
          <p:cNvSpPr/>
          <p:nvPr/>
        </p:nvSpPr>
        <p:spPr>
          <a:xfrm>
            <a:off x="457200" y="4114800"/>
            <a:ext cx="8228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Scopul: evaluare comparativă a algoritmilor ML pentru screening clinic non-invaziv.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457200" y="2743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400" strike="noStrike">
                <a:solidFill>
                  <a:srgbClr val="00b4d8"/>
                </a:solidFill>
                <a:effectLst/>
                <a:uFillTx/>
                <a:latin typeface="Calibri"/>
              </a:rPr>
              <a:t>DATE ANALIZATE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Pima Indians Diabetes Database (PIDD) 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365760" y="1417320"/>
            <a:ext cx="4022640" cy="3291120"/>
          </a:xfrm>
          <a:prstGeom prst="rect">
            <a:avLst/>
          </a:prstGeom>
          <a:solidFill>
            <a:srgbClr val="13284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502920" y="155448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Setul de date PIDD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502920" y="2011680"/>
            <a:ext cx="374832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6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National Institute of Diabetes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and Digestive and Kidney Diseases (NIDDK)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768 paciente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femei, origine amerindiană, vârsta &gt; 21 ani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 atribute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clinice (glucoză, BMI, insulină...)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Dezechilibru: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65.1% sănătoase vs 34.9% diabetice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5"/>
          <p:cNvSpPr/>
          <p:nvPr/>
        </p:nvSpPr>
        <p:spPr>
          <a:xfrm>
            <a:off x="4663440" y="1417320"/>
            <a:ext cx="4114080" cy="3291120"/>
          </a:xfrm>
          <a:prstGeom prst="rect">
            <a:avLst/>
          </a:prstGeom>
          <a:solidFill>
            <a:srgbClr val="13284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4800600" y="155448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Preprocesare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7"/>
          <p:cNvSpPr/>
          <p:nvPr/>
        </p:nvSpPr>
        <p:spPr>
          <a:xfrm>
            <a:off x="4800600" y="2057400"/>
            <a:ext cx="319320" cy="319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4800600" y="2039040"/>
            <a:ext cx="319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d2137"/>
                </a:solidFill>
                <a:effectLst/>
                <a:uFillTx/>
                <a:latin typeface="Calibri"/>
              </a:rPr>
              <a:t>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5193720" y="2011680"/>
            <a:ext cx="3382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Valori zero implauzibile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5193720" y="2331720"/>
            <a:ext cx="3382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Imputare cu mediana (robustă la outlieri)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1"/>
          <p:cNvSpPr/>
          <p:nvPr/>
        </p:nvSpPr>
        <p:spPr>
          <a:xfrm>
            <a:off x="4800600" y="2926080"/>
            <a:ext cx="319320" cy="319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2"/>
          <p:cNvSpPr/>
          <p:nvPr/>
        </p:nvSpPr>
        <p:spPr>
          <a:xfrm>
            <a:off x="4800600" y="2907720"/>
            <a:ext cx="319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d2137"/>
                </a:solidFill>
                <a:effectLst/>
                <a:uFillTx/>
                <a:latin typeface="Calibri"/>
              </a:rPr>
              <a:t>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3"/>
          <p:cNvSpPr/>
          <p:nvPr/>
        </p:nvSpPr>
        <p:spPr>
          <a:xfrm>
            <a:off x="5193720" y="2880360"/>
            <a:ext cx="3382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Dezechilibru clase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4"/>
          <p:cNvSpPr/>
          <p:nvPr/>
        </p:nvSpPr>
        <p:spPr>
          <a:xfrm>
            <a:off x="5193720" y="3200400"/>
            <a:ext cx="3382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SMOTE — generare sintetică, fără pierdere de date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5"/>
          <p:cNvSpPr/>
          <p:nvPr/>
        </p:nvSpPr>
        <p:spPr>
          <a:xfrm>
            <a:off x="4800600" y="3794760"/>
            <a:ext cx="319320" cy="319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6"/>
          <p:cNvSpPr/>
          <p:nvPr/>
        </p:nvSpPr>
        <p:spPr>
          <a:xfrm>
            <a:off x="4800600" y="3776400"/>
            <a:ext cx="319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d2137"/>
                </a:solidFill>
                <a:effectLst/>
                <a:uFillTx/>
                <a:latin typeface="Calibri"/>
              </a:rPr>
              <a:t>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7"/>
          <p:cNvSpPr/>
          <p:nvPr/>
        </p:nvSpPr>
        <p:spPr>
          <a:xfrm>
            <a:off x="5193720" y="3749040"/>
            <a:ext cx="3382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Validare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8"/>
          <p:cNvSpPr/>
          <p:nvPr/>
        </p:nvSpPr>
        <p:spPr>
          <a:xfrm>
            <a:off x="5193720" y="4069080"/>
            <a:ext cx="3382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k-fold cross-validation pentru generalizare fiabilă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457200" y="2743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400" strike="noStrike">
                <a:solidFill>
                  <a:srgbClr val="00b4d8"/>
                </a:solidFill>
                <a:effectLst/>
                <a:uFillTx/>
                <a:latin typeface="Calibri"/>
              </a:rPr>
              <a:t>MODELE "WHITE-BOX"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Algoritmi de clasificare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320040" y="1417320"/>
            <a:ext cx="2696760" cy="3291120"/>
          </a:xfrm>
          <a:prstGeom prst="rect">
            <a:avLst/>
          </a:prstGeom>
          <a:solidFill>
            <a:srgbClr val="13284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457200" y="2286000"/>
            <a:ext cx="2422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457200" y="2286000"/>
            <a:ext cx="242244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Estimează probabilitatea de diabet (0–1) prin funcția sigmoidă.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Coeficienți interpretabili: vârsta +16%, BMI +12% risc.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6"/>
          <p:cNvSpPr/>
          <p:nvPr/>
        </p:nvSpPr>
        <p:spPr>
          <a:xfrm>
            <a:off x="3246120" y="1417320"/>
            <a:ext cx="2696760" cy="3291120"/>
          </a:xfrm>
          <a:prstGeom prst="rect">
            <a:avLst/>
          </a:prstGeom>
          <a:solidFill>
            <a:srgbClr val="13284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3383280" y="2286000"/>
            <a:ext cx="2422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3429000" y="2057400"/>
            <a:ext cx="237672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Reguli 'if-then' vizualizabile.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Glucoza = nod radacina -&gt; predictor principal.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0"/>
          <p:cNvSpPr/>
          <p:nvPr/>
        </p:nvSpPr>
        <p:spPr>
          <a:xfrm>
            <a:off x="6172200" y="1417320"/>
            <a:ext cx="2696760" cy="3291120"/>
          </a:xfrm>
          <a:prstGeom prst="rect">
            <a:avLst/>
          </a:prstGeom>
          <a:solidFill>
            <a:srgbClr val="132840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6172200" y="1417320"/>
            <a:ext cx="2696760" cy="6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6309360" y="1600200"/>
            <a:ext cx="2422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4"/>
          <p:cNvSpPr/>
          <p:nvPr/>
        </p:nvSpPr>
        <p:spPr>
          <a:xfrm>
            <a:off x="6400800" y="2057400"/>
            <a:ext cx="233100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Ansamblu de arbori decorelați prin Bagging.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Reduce overfitting și varianța. 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Cel mai performant.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457200" y="47548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Prioritate: metrici interpretabile + Recall ridicat → minimizare fals-negative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457200" y="1627200"/>
            <a:ext cx="2514240" cy="4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Regresie Logistică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3291480" y="1627200"/>
            <a:ext cx="2514240" cy="4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Arbore de Decizie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6309360" y="1627200"/>
            <a:ext cx="2514240" cy="4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Random Forest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457200" y="2743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400" strike="noStrike">
                <a:solidFill>
                  <a:srgbClr val="00b4d8"/>
                </a:solidFill>
                <a:effectLst/>
                <a:uFillTx/>
                <a:latin typeface="Calibri"/>
              </a:rPr>
              <a:t>REZULTATE DIN LITERATURĂ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457200" y="640080"/>
            <a:ext cx="8228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Comparație rezultate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8" name="Table 0"/>
          <p:cNvGraphicFramePr/>
          <p:nvPr/>
        </p:nvGraphicFramePr>
        <p:xfrm>
          <a:off x="365760" y="1371600"/>
          <a:ext cx="8412120" cy="347256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1097280"/>
                <a:gridCol w="1097280"/>
                <a:gridCol w="1920240"/>
              </a:tblGrid>
              <a:tr h="4960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00b4d8"/>
                          </a:solidFill>
                          <a:effectLst/>
                          <a:uFillTx/>
                          <a:latin typeface="Calibri"/>
                        </a:rPr>
                        <a:t>Studiu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00b4d8"/>
                          </a:solidFill>
                          <a:effectLst/>
                          <a:uFillTx/>
                          <a:latin typeface="Calibri"/>
                        </a:rPr>
                        <a:t>Model Câștigător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00b4d8"/>
                          </a:solidFill>
                          <a:effectLst/>
                          <a:uFillTx/>
                          <a:latin typeface="Calibri"/>
                        </a:rPr>
                        <a:t>Acc.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00b4d8"/>
                          </a:solidFill>
                          <a:effectLst/>
                          <a:uFillTx/>
                          <a:latin typeface="Calibri"/>
                        </a:rPr>
                        <a:t>Recall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00b4d8"/>
                          </a:solidFill>
                          <a:effectLst/>
                          <a:uFillTx/>
                          <a:latin typeface="Calibri"/>
                        </a:rPr>
                        <a:t>Echilibrare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a3d62"/>
                    </a:solidFill>
                  </a:tcPr>
                </a:tc>
              </a:tr>
              <a:tr h="4960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Sisodia (2018) - PIDD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Naive Bayes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76.3%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0.763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Nu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</a:tr>
              <a:tr h="4960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  <a:ea typeface="Noto Sans CJK SC"/>
                        </a:rPr>
                        <a:t>Zou et al. (2018) - PIDD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Rețea Neuronală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76.6%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0.78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Nu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</a:tr>
              <a:tr h="4960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  <a:ea typeface="Noto Sans CJK SC"/>
                        </a:rPr>
                        <a:t>Butt et al. (2021) - PIDD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LSTM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87.2%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0.85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Nu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</a:tr>
              <a:tr h="4960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  <a:ea typeface="Noto Sans CJK SC"/>
                        </a:rPr>
                        <a:t>Bhatta &amp; Husain (2026) - PIDD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Random Forest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77.5%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0.595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Nu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</a:tr>
              <a:tr h="4960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  <a:ea typeface="Noto Sans CJK SC"/>
                        </a:rPr>
                        <a:t>Sahebhonar et al. (2022) – set de date pe militari iranieni.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Random Forest 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94.4%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1.000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SMOTE ( inițial clasa negativă era 3% din întregul dataset 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</a:tr>
              <a:tr h="4960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  <a:ea typeface="Noto Sans CJK SC"/>
                        </a:rPr>
                        <a:t>Zhang et al. (2024) - PIDD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BPNN (deep)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89.8%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0.893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</a:rPr>
                        <a:t>Undersampling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840"/>
                    </a:solidFill>
                  </a:tcPr>
                </a:tc>
              </a:tr>
            </a:tbl>
          </a:graphicData>
        </a:graphic>
      </p:graphicFrame>
      <p:sp>
        <p:nvSpPr>
          <p:cNvPr id="69" name="Text 2"/>
          <p:cNvSpPr/>
          <p:nvPr/>
        </p:nvSpPr>
        <p:spPr>
          <a:xfrm>
            <a:off x="457200" y="484632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⚑  Studiile fără echilibrare ratează 20–40% din pacienții bolnavi.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457200" y="2743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457200" y="640080"/>
            <a:ext cx="8228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Concluzii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365760" y="1417320"/>
            <a:ext cx="8411760" cy="776520"/>
          </a:xfrm>
          <a:prstGeom prst="rect">
            <a:avLst/>
          </a:prstGeom>
          <a:solidFill>
            <a:srgbClr val="13284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365760" y="1417320"/>
            <a:ext cx="63360" cy="776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548640" y="14720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Random Forest &gt; ceilalți clasificatori clasici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548640" y="1801440"/>
            <a:ext cx="8046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Acc. variază 76%–94% în funcție de calitatea preprocesării.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"/>
          <p:cNvSpPr/>
          <p:nvPr/>
        </p:nvSpPr>
        <p:spPr>
          <a:xfrm>
            <a:off x="365760" y="2286000"/>
            <a:ext cx="8411760" cy="776520"/>
          </a:xfrm>
          <a:prstGeom prst="rect">
            <a:avLst/>
          </a:prstGeom>
          <a:solidFill>
            <a:srgbClr val="13284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365760" y="2286000"/>
            <a:ext cx="63360" cy="776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548640" y="234072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SMOTE = esențial pentru Recall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548640" y="2670120"/>
            <a:ext cx="8046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Noto Sans CJK SC"/>
              </a:rPr>
              <a:t>Fără echilibrare: 20–40% pacienți rataţi. Cu SMOTE: Recall-ul poate crește considerabil 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→  1.000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0"/>
          <p:cNvSpPr/>
          <p:nvPr/>
        </p:nvSpPr>
        <p:spPr>
          <a:xfrm>
            <a:off x="365760" y="3154680"/>
            <a:ext cx="8411760" cy="776520"/>
          </a:xfrm>
          <a:prstGeom prst="rect">
            <a:avLst/>
          </a:prstGeom>
          <a:solidFill>
            <a:srgbClr val="13284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365760" y="3154680"/>
            <a:ext cx="63360" cy="776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548640" y="320940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Deep Learning ≠ potrivit clinic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3"/>
          <p:cNvSpPr/>
          <p:nvPr/>
        </p:nvSpPr>
        <p:spPr>
          <a:xfrm>
            <a:off x="548640" y="3538800"/>
            <a:ext cx="8046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BPNN atinge 89.8% dar natura "black-box" blochează siguranța medicală.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4"/>
          <p:cNvSpPr/>
          <p:nvPr/>
        </p:nvSpPr>
        <p:spPr>
          <a:xfrm>
            <a:off x="365760" y="4023360"/>
            <a:ext cx="8411760" cy="776520"/>
          </a:xfrm>
          <a:prstGeom prst="rect">
            <a:avLst/>
          </a:prstGeom>
          <a:solidFill>
            <a:srgbClr val="13284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5"/>
          <p:cNvSpPr/>
          <p:nvPr/>
        </p:nvSpPr>
        <p:spPr>
          <a:xfrm>
            <a:off x="365760" y="4023360"/>
            <a:ext cx="63360" cy="776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6"/>
          <p:cNvSpPr/>
          <p:nvPr/>
        </p:nvSpPr>
        <p:spPr>
          <a:xfrm>
            <a:off x="548640" y="407808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Mediana &gt; Media pentru imputare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7"/>
          <p:cNvSpPr/>
          <p:nvPr/>
        </p:nvSpPr>
        <p:spPr>
          <a:xfrm>
            <a:off x="548640" y="4407480"/>
            <a:ext cx="8046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Distribuții asimetrice (insulina: 0–846 µU/ml) → media e distorsionată.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6858000" y="2286000"/>
            <a:ext cx="4571280" cy="457128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457200" y="2743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457200" y="64008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sng" strike="noStrike">
                <a:solidFill>
                  <a:srgbClr val="ffffff"/>
                </a:solidFill>
                <a:effectLst/>
                <a:uFillTx/>
                <a:latin typeface="Calibri"/>
              </a:rPr>
              <a:t>Direcții viitoare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457200" y="1371600"/>
            <a:ext cx="713160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60000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Documentarea Integrării Explainable AI (XAI):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 lvl="1" indent="-216000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SHAP(SHapley Additive exPlanations)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 lvl="1" indent="-216000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Noto Sans CJK SC"/>
              </a:rPr>
              <a:t>LIME(Interpretable Model-agnostic Explanations)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Noto Sans CJK SC"/>
              </a:rPr>
              <a:t>	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8"/>
          <p:cNvSpPr/>
          <p:nvPr/>
        </p:nvSpPr>
        <p:spPr>
          <a:xfrm>
            <a:off x="457200" y="4297680"/>
            <a:ext cx="5028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411840" y="2514600"/>
            <a:ext cx="713160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60000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Noto Sans CJK SC"/>
              </a:rPr>
              <a:t>Date Multimodale: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 lvl="1" indent="-216000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Noto Sans CJK SC"/>
              </a:rPr>
              <a:t>Imagistică Medicală: Utilizarea tehnicilor de Computer Vision pentru analiza fotografiilor clinice identificând semne timpurii ale bolii.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 lvl="1" indent="-216000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Noto Sans CJK SC"/>
              </a:rPr>
              <a:t> OCR și NLP: Implementarea unui modul de OCR pentru extragerea automată datelor din analize scanate, urmată de procesarea limbajului natural (NLP) pentru a converti observațiile textuale ale medicilor în variabile de intrare pentru modelul de predicție.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19"/>
          <p:cNvSpPr/>
          <p:nvPr/>
        </p:nvSpPr>
        <p:spPr>
          <a:xfrm>
            <a:off x="457200" y="2743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2"/>
          <p:cNvSpPr/>
          <p:nvPr/>
        </p:nvSpPr>
        <p:spPr>
          <a:xfrm>
            <a:off x="548640" y="1801440"/>
            <a:ext cx="8046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1600200" y="1828800"/>
            <a:ext cx="662904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Mulțumesc pentru atenție!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  🤕🩺 🏥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LibreOffice/25.8.6.2$Linux_X86_64 LibreOffice_project/a46b460d1686bb49c718d2ef5f88b83ff2dc4981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2026-04-29T20:02:42Z</dcterms:created>
  <dc:creator>PptxGenJS</dc:creator>
  <dc:description/>
  <dc:language>en-US</dc:language>
  <cp:lastModifiedBy/>
  <dcterms:modified xsi:type="dcterms:W3CDTF">2026-04-30T08:37:40Z</dcterms:modified>
  <cp:revision>5</cp:revision>
  <dc:subject>PptxGenJS Presentation</dc:subject>
  <dc:title>Sistem Inteligent pentru Predicția Riscului de Diabet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