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B3E2291-B25E-40B8-BEFF-6D2CE792A3B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BAA5A9-2176-4D16-8BC7-70B457FA84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29CBFB-F3E9-448F-9445-39374084EF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6254B4-1052-4837-A231-CB2E5C5925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7D7309-2AFE-49AD-A558-78B07DD5BE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1C7345-0CF3-4B37-BD58-56C0B6EE39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B3540E-BC0D-4502-B32B-B252BDAA23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E4A635-2731-4188-8F4A-FA64315D36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C1C5C0-D47F-46A3-A6B6-A6180D0340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7132320" y="-731520"/>
            <a:ext cx="3657240" cy="365724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914400" y="3200400"/>
            <a:ext cx="2742840" cy="2742840"/>
          </a:xfrm>
          <a:prstGeom prst="ellipse">
            <a:avLst/>
          </a:prstGeom>
          <a:solidFill>
            <a:srgbClr val="00b4d8">
              <a:alpha val="10000"/>
            </a:srgbClr>
          </a:solidFill>
          <a:ln w="12700">
            <a:solidFill>
              <a:srgbClr val="00b4d8">
                <a:alpha val="1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100584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48640" y="1508760"/>
            <a:ext cx="77720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Sistem inteligent pentru Predicția Riscului de Diabet</a:t>
            </a:r>
            <a:endParaRPr lang="en-US" sz="40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548640" y="35204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Cuciurean Emilian-Petruț  ·  Babeș-Bolyai University  ·  TRSI 2026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548640" y="3977640"/>
            <a:ext cx="146268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400" strike="noStrike">
                <a:solidFill>
                  <a:srgbClr val="00b4d8"/>
                </a:solidFill>
                <a:effectLst/>
                <a:uFillTx/>
                <a:latin typeface="Calibri"/>
              </a:rPr>
              <a:t>CONTEXT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457200" y="64008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ce contează?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365760" y="1508760"/>
            <a:ext cx="2651400" cy="2285640"/>
          </a:xfrm>
          <a:prstGeom prst="rect">
            <a:avLst/>
          </a:prstGeom>
          <a:solidFill>
            <a:srgbClr val="132840"/>
          </a:solidFill>
          <a:ln w="12700">
            <a:solidFill>
              <a:srgbClr val="00b4d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365760" y="1508760"/>
            <a:ext cx="63720" cy="2285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53028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642M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530280" y="2423160"/>
            <a:ext cx="2395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pacienți diabetici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prognozat până în 2040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6"/>
          <p:cNvSpPr/>
          <p:nvPr/>
        </p:nvSpPr>
        <p:spPr>
          <a:xfrm>
            <a:off x="3291840" y="1508760"/>
            <a:ext cx="2651400" cy="2285640"/>
          </a:xfrm>
          <a:prstGeom prst="rect">
            <a:avLst/>
          </a:prstGeom>
          <a:solidFill>
            <a:srgbClr val="132840"/>
          </a:solidFill>
          <a:ln w="12700">
            <a:solidFill>
              <a:srgbClr val="00b4d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7"/>
          <p:cNvSpPr/>
          <p:nvPr/>
        </p:nvSpPr>
        <p:spPr>
          <a:xfrm>
            <a:off x="3291840" y="1508760"/>
            <a:ext cx="63720" cy="2285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8"/>
          <p:cNvSpPr/>
          <p:nvPr/>
        </p:nvSpPr>
        <p:spPr>
          <a:xfrm>
            <a:off x="345636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1/10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9"/>
          <p:cNvSpPr/>
          <p:nvPr/>
        </p:nvSpPr>
        <p:spPr>
          <a:xfrm>
            <a:off x="3456360" y="2423160"/>
            <a:ext cx="2395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adulți vor suferi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această boală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0"/>
          <p:cNvSpPr/>
          <p:nvPr/>
        </p:nvSpPr>
        <p:spPr>
          <a:xfrm>
            <a:off x="6217920" y="1508760"/>
            <a:ext cx="2651400" cy="2285640"/>
          </a:xfrm>
          <a:prstGeom prst="rect">
            <a:avLst/>
          </a:prstGeom>
          <a:solidFill>
            <a:srgbClr val="132840"/>
          </a:solidFill>
          <a:ln w="12700">
            <a:solidFill>
              <a:srgbClr val="00b4d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1"/>
          <p:cNvSpPr/>
          <p:nvPr/>
        </p:nvSpPr>
        <p:spPr>
          <a:xfrm>
            <a:off x="6217920" y="1508760"/>
            <a:ext cx="63720" cy="2285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2"/>
          <p:cNvSpPr/>
          <p:nvPr/>
        </p:nvSpPr>
        <p:spPr>
          <a:xfrm>
            <a:off x="6382440" y="169164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Mortalitate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3"/>
          <p:cNvSpPr/>
          <p:nvPr/>
        </p:nvSpPr>
        <p:spPr>
          <a:xfrm>
            <a:off x="6382440" y="2423160"/>
            <a:ext cx="2395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Importanța diagnosticării timpurii a diabetului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4"/>
          <p:cNvSpPr/>
          <p:nvPr/>
        </p:nvSpPr>
        <p:spPr>
          <a:xfrm>
            <a:off x="457200" y="4114800"/>
            <a:ext cx="8229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Scopul: evaluare comparativă a algoritmilor ML pentru screening clinic non-invaziv pe setul PIDD (768 paciente).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400" strike="noStrike">
                <a:solidFill>
                  <a:srgbClr val="00b4d8"/>
                </a:solidFill>
                <a:effectLst/>
                <a:uFillTx/>
                <a:latin typeface="Calibri"/>
              </a:rPr>
              <a:t>DATE ANALIZATE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457200" y="6400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Pima Indians Diabetes Database (PIDD) 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365760" y="1417320"/>
            <a:ext cx="4023000" cy="32914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502920" y="15544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Setul de date PIDD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4"/>
          <p:cNvSpPr/>
          <p:nvPr/>
        </p:nvSpPr>
        <p:spPr>
          <a:xfrm>
            <a:off x="502920" y="2011680"/>
            <a:ext cx="37486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National Institute of Diabetes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and Digestive and Kidney Diseases (NIDDK)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768 paciente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femei, origine amerindiană, vârsta &gt; 21 ani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 atribute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clinice (glucoză, BMI, insulină...)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Dezechilibru: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65.1% sănătoase vs 34.9% diabetice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5"/>
          <p:cNvSpPr/>
          <p:nvPr/>
        </p:nvSpPr>
        <p:spPr>
          <a:xfrm>
            <a:off x="4663440" y="1417320"/>
            <a:ext cx="4114440" cy="32914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6"/>
          <p:cNvSpPr/>
          <p:nvPr/>
        </p:nvSpPr>
        <p:spPr>
          <a:xfrm>
            <a:off x="4800600" y="15544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Preprocesare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7"/>
          <p:cNvSpPr/>
          <p:nvPr/>
        </p:nvSpPr>
        <p:spPr>
          <a:xfrm>
            <a:off x="4800600" y="2057400"/>
            <a:ext cx="319680" cy="3196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8"/>
          <p:cNvSpPr/>
          <p:nvPr/>
        </p:nvSpPr>
        <p:spPr>
          <a:xfrm>
            <a:off x="4800600" y="2039040"/>
            <a:ext cx="319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d2137"/>
                </a:solidFill>
                <a:effectLst/>
                <a:uFillTx/>
                <a:latin typeface="Calibri"/>
              </a:rPr>
              <a:t>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9"/>
          <p:cNvSpPr/>
          <p:nvPr/>
        </p:nvSpPr>
        <p:spPr>
          <a:xfrm>
            <a:off x="5193720" y="201168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Valori zero implauzibile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0"/>
          <p:cNvSpPr/>
          <p:nvPr/>
        </p:nvSpPr>
        <p:spPr>
          <a:xfrm>
            <a:off x="5193720" y="233172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Imputare cu mediana (robustă la outlieri)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1"/>
          <p:cNvSpPr/>
          <p:nvPr/>
        </p:nvSpPr>
        <p:spPr>
          <a:xfrm>
            <a:off x="4800600" y="2926080"/>
            <a:ext cx="319680" cy="3196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2"/>
          <p:cNvSpPr/>
          <p:nvPr/>
        </p:nvSpPr>
        <p:spPr>
          <a:xfrm>
            <a:off x="4800600" y="2907720"/>
            <a:ext cx="319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d2137"/>
                </a:solidFill>
                <a:effectLst/>
                <a:uFillTx/>
                <a:latin typeface="Calibri"/>
              </a:rPr>
              <a:t>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3"/>
          <p:cNvSpPr/>
          <p:nvPr/>
        </p:nvSpPr>
        <p:spPr>
          <a:xfrm>
            <a:off x="5193720" y="288036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Dezechilibru clase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4"/>
          <p:cNvSpPr/>
          <p:nvPr/>
        </p:nvSpPr>
        <p:spPr>
          <a:xfrm>
            <a:off x="5193720" y="320040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SMOTE — generare sintetică, fără pierdere de date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5"/>
          <p:cNvSpPr/>
          <p:nvPr/>
        </p:nvSpPr>
        <p:spPr>
          <a:xfrm>
            <a:off x="4800600" y="3794760"/>
            <a:ext cx="319680" cy="3196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6"/>
          <p:cNvSpPr/>
          <p:nvPr/>
        </p:nvSpPr>
        <p:spPr>
          <a:xfrm>
            <a:off x="4800600" y="3776400"/>
            <a:ext cx="319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d2137"/>
                </a:solidFill>
                <a:effectLst/>
                <a:uFillTx/>
                <a:latin typeface="Calibri"/>
              </a:rPr>
              <a:t>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7"/>
          <p:cNvSpPr/>
          <p:nvPr/>
        </p:nvSpPr>
        <p:spPr>
          <a:xfrm>
            <a:off x="5193720" y="374904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Validare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8"/>
          <p:cNvSpPr/>
          <p:nvPr/>
        </p:nvSpPr>
        <p:spPr>
          <a:xfrm>
            <a:off x="5193720" y="406908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k-fold cross-validation pentru generalizare fiabilă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400" strike="noStrike">
                <a:solidFill>
                  <a:srgbClr val="00b4d8"/>
                </a:solidFill>
                <a:effectLst/>
                <a:uFillTx/>
                <a:latin typeface="Calibri"/>
              </a:rPr>
              <a:t>MODELE "WHITE-BOX"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457200" y="64008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Algoritmi de clasificare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320040" y="1417320"/>
            <a:ext cx="2697120" cy="32914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457200" y="228600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5"/>
          <p:cNvSpPr/>
          <p:nvPr/>
        </p:nvSpPr>
        <p:spPr>
          <a:xfrm>
            <a:off x="457200" y="2286000"/>
            <a:ext cx="24228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Estimează probabilitatea de diabet (0–1) prin funcția sigmoidă.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Coeficienți interpretabili: vârsta +16%, BMI +12% risc.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6"/>
          <p:cNvSpPr/>
          <p:nvPr/>
        </p:nvSpPr>
        <p:spPr>
          <a:xfrm>
            <a:off x="3246120" y="1417320"/>
            <a:ext cx="2697120" cy="32914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3383280" y="2286000"/>
            <a:ext cx="2422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9"/>
          <p:cNvSpPr/>
          <p:nvPr/>
        </p:nvSpPr>
        <p:spPr>
          <a:xfrm>
            <a:off x="3429000" y="2057400"/>
            <a:ext cx="237708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Reguli 'if-then' vizualizabile.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Glucoza = nod radacina -&gt; predictor principal.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0"/>
          <p:cNvSpPr/>
          <p:nvPr/>
        </p:nvSpPr>
        <p:spPr>
          <a:xfrm>
            <a:off x="6172200" y="1417320"/>
            <a:ext cx="2697120" cy="3291480"/>
          </a:xfrm>
          <a:prstGeom prst="rect">
            <a:avLst/>
          </a:prstGeom>
          <a:solidFill>
            <a:srgbClr val="13284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1"/>
          <p:cNvSpPr/>
          <p:nvPr/>
        </p:nvSpPr>
        <p:spPr>
          <a:xfrm>
            <a:off x="6172200" y="1417320"/>
            <a:ext cx="2697120" cy="63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6309360" y="1600200"/>
            <a:ext cx="2422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6400800" y="2057400"/>
            <a:ext cx="233136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Ansamblu de arbori decorelați prin Bagging.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Reduce overfitting și varianța.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Cel mai performant.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457200" y="47548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Prioritate: metrici interpretabile + Recall ridicat → minimizare fals-negative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57200" y="1627200"/>
            <a:ext cx="25146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Regresie Logistică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3291480" y="1627200"/>
            <a:ext cx="25146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Arbore de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Decizie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309360" y="1627200"/>
            <a:ext cx="25146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Random Forest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400" strike="noStrike">
                <a:solidFill>
                  <a:srgbClr val="00b4d8"/>
                </a:solidFill>
                <a:effectLst/>
                <a:uFillTx/>
                <a:latin typeface="Calibri"/>
              </a:rPr>
              <a:t>REZULTATE DIN LITERATURĂ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457200" y="64008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Comparație rezultate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365760" y="1371600"/>
          <a:ext cx="8412120" cy="3474360"/>
        </p:xfrm>
        <a:graphic>
          <a:graphicData uri="http://schemas.openxmlformats.org/drawingml/2006/table">
            <a:tbl>
              <a:tblPr/>
              <a:tblGrid>
                <a:gridCol w="2377440"/>
                <a:gridCol w="1920240"/>
                <a:gridCol w="1097280"/>
                <a:gridCol w="1097280"/>
                <a:gridCol w="1920240"/>
              </a:tblGrid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1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</a:rPr>
                        <a:t>Studiu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1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</a:rPr>
                        <a:t>Model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1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</a:rPr>
                        <a:t>Acc.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1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</a:rPr>
                        <a:t>Recall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1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</a:rPr>
                        <a:t>Echilibrare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0a3d62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Sisodia (2018) - PIDD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Naive Bayes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76.3%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0.763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Nu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Zou et al. (2018) </a:t>
                      </a: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- PIDD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Rețea Neuronală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76.6%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0.78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Nu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Butt et al. (2021) </a:t>
                      </a: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- PIDD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LSTM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87.2%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0.85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Nu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Bhatta &amp; Husain (2026) </a:t>
                      </a: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- PIDD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Random Forest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77.5%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0.595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Nu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Sahebhonar et al. (2022) –</a:t>
                      </a: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 set de date pe militari iraniei.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Random Forest 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94.4%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1.000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SMOTE ( inițial clasa negativă era 3% din întregul dataset 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  <a:tr h="496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Zhang et al. (2024) </a:t>
                      </a: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- PIDD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BPNN (deep)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89.8%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0.893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94a3b8"/>
                          </a:solidFill>
                          <a:effectLst/>
                          <a:uFillTx/>
                          <a:latin typeface="Calibri"/>
                        </a:rPr>
                        <a:t>Undersampling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1e3a5f"/>
                      </a:solidFill>
                      <a:prstDash val="solid"/>
                    </a:lnL>
                    <a:lnR w="6480">
                      <a:solidFill>
                        <a:srgbClr val="1e3a5f"/>
                      </a:solidFill>
                      <a:prstDash val="solid"/>
                    </a:lnR>
                    <a:lnT w="6480">
                      <a:solidFill>
                        <a:srgbClr val="1e3a5f"/>
                      </a:solidFill>
                      <a:prstDash val="solid"/>
                    </a:lnT>
                    <a:lnB w="6480">
                      <a:solidFill>
                        <a:srgbClr val="1e3a5f"/>
                      </a:solidFill>
                      <a:prstDash val="solid"/>
                    </a:lnB>
                    <a:solidFill>
                      <a:srgbClr val="132840"/>
                    </a:solidFill>
                  </a:tcPr>
                </a:tc>
              </a:tr>
            </a:tbl>
          </a:graphicData>
        </a:graphic>
      </p:graphicFrame>
      <p:sp>
        <p:nvSpPr>
          <p:cNvPr id="69" name="Text 2"/>
          <p:cNvSpPr/>
          <p:nvPr/>
        </p:nvSpPr>
        <p:spPr>
          <a:xfrm>
            <a:off x="457200" y="4846320"/>
            <a:ext cx="8229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⚑  Studiile fără echilibrare ratează 20–40% din pacienții bolnavi.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457200" y="64008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Concluzii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"/>
          <p:cNvSpPr/>
          <p:nvPr/>
        </p:nvSpPr>
        <p:spPr>
          <a:xfrm>
            <a:off x="365760" y="1417320"/>
            <a:ext cx="8412120" cy="7768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365760" y="1417320"/>
            <a:ext cx="63720" cy="776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48640" y="1472040"/>
            <a:ext cx="8046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Random Forest &gt; ceilalți clasificatori clasici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548640" y="18014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Acc. variază 76%–94% în funcție de calitatea preprocesării.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365760" y="2286000"/>
            <a:ext cx="8412120" cy="7768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7"/>
          <p:cNvSpPr/>
          <p:nvPr/>
        </p:nvSpPr>
        <p:spPr>
          <a:xfrm>
            <a:off x="365760" y="2286000"/>
            <a:ext cx="63720" cy="776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548640" y="2340720"/>
            <a:ext cx="8046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SMOTE = esențial pentru Recall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548640" y="267012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Fără echilibrare: 20–40% pacienți rataţi. Cu SMOTE: Recall-ul crește considerabil =&gt; 1.000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365760" y="3154680"/>
            <a:ext cx="8412120" cy="7768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1"/>
          <p:cNvSpPr/>
          <p:nvPr/>
        </p:nvSpPr>
        <p:spPr>
          <a:xfrm>
            <a:off x="365760" y="3154680"/>
            <a:ext cx="63720" cy="776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548640" y="3209400"/>
            <a:ext cx="8046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Deep Learning ≠ potrivit clinic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548640" y="35388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BPNN atinge 89.8% dar natura "black-box" blochează siguranța medicală.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4"/>
          <p:cNvSpPr/>
          <p:nvPr/>
        </p:nvSpPr>
        <p:spPr>
          <a:xfrm>
            <a:off x="365760" y="4023360"/>
            <a:ext cx="8412120" cy="776880"/>
          </a:xfrm>
          <a:prstGeom prst="rect">
            <a:avLst/>
          </a:prstGeom>
          <a:solidFill>
            <a:srgbClr val="132840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5"/>
          <p:cNvSpPr/>
          <p:nvPr/>
        </p:nvSpPr>
        <p:spPr>
          <a:xfrm>
            <a:off x="365760" y="4023360"/>
            <a:ext cx="63720" cy="776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6"/>
          <p:cNvSpPr/>
          <p:nvPr/>
        </p:nvSpPr>
        <p:spPr>
          <a:xfrm>
            <a:off x="548640" y="4078080"/>
            <a:ext cx="8046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Mediana &gt; Media pentru imputare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548640" y="44074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Distribuții asimetrice (insulina: 0–846 µU/ml) → media e distorsionată.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6858000" y="2286000"/>
            <a:ext cx="4571640" cy="4571640"/>
          </a:xfrm>
          <a:prstGeom prst="ellipse">
            <a:avLst/>
          </a:prstGeom>
          <a:solidFill>
            <a:srgbClr val="00b4d8">
              <a:alpha val="8000"/>
            </a:srgbClr>
          </a:solidFill>
          <a:ln w="12700">
            <a:solidFill>
              <a:srgbClr val="00b4d8">
                <a:alpha val="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457200" y="640080"/>
            <a:ext cx="7314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sng" strike="noStrike">
                <a:solidFill>
                  <a:srgbClr val="ffffff"/>
                </a:solidFill>
                <a:effectLst/>
                <a:uFillTx/>
                <a:latin typeface="Calibri"/>
              </a:rPr>
              <a:t>Direcții viitoare</a:t>
            </a:r>
            <a:endParaRPr lang="en-US" sz="2800" b="0" u="sng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57200" y="1371600"/>
            <a:ext cx="713196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60000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Documentarea Integrării Explainable AI (XAI):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SHAP(SHapley Additive exPlanations)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LIME(Interpretable Model-agnostic Explanations)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</p:txBody>
      </p:sp>
      <p:sp>
        <p:nvSpPr>
          <p:cNvPr id="92" name="Text 8"/>
          <p:cNvSpPr/>
          <p:nvPr/>
        </p:nvSpPr>
        <p:spPr>
          <a:xfrm>
            <a:off x="457200" y="429768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7"/>
          <p:cNvSpPr/>
          <p:nvPr/>
        </p:nvSpPr>
        <p:spPr>
          <a:xfrm>
            <a:off x="411840" y="2514600"/>
            <a:ext cx="713196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60000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Date Multimodale: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Imagistică Medicală: Utilizarea tehnicilor de Computer Vision pentru analiza 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fotografiilor clinice identificând semne timpurii ale bolii.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  <a:p>
            <a:pPr marL="360000" lvl="1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 OCR și NLP: Implementarea unui modul de OCR pentru extragerea 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automată datelor din analize scanate, urmată de procesarea limbajului 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natural (NLP) pentru a converti observațiile textuale ale medicilor în variabile </a:t>
            </a: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Noto Sans CJK SC"/>
              </a:rPr>
              <a:t>de intrare pentru modelul de predicție.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  <a:ea typeface="Noto Sans CJK S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19"/>
          <p:cNvSpPr/>
          <p:nvPr/>
        </p:nvSpPr>
        <p:spPr>
          <a:xfrm>
            <a:off x="457200" y="2743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2"/>
          <p:cNvSpPr/>
          <p:nvPr/>
        </p:nvSpPr>
        <p:spPr>
          <a:xfrm>
            <a:off x="548640" y="18014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600200" y="1828800"/>
            <a:ext cx="6629400" cy="2057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Mulțum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esc 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pentru 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atenție!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  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🤕</a:t>
            </a: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🩺 🏥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LibreOffice/25.8.6.2$Linux_X86_64 LibreOffice_project/a46b460d1686bb49c718d2ef5f88b83ff2dc4981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2026-04-29T20:02:42Z</dcterms:created>
  <dc:creator>PptxGenJS</dc:creator>
  <dc:description/>
  <dc:language>en-US</dc:language>
  <cp:lastModifiedBy/>
  <dcterms:modified xsi:type="dcterms:W3CDTF">2026-04-30T00:01:27Z</dcterms:modified>
  <cp:revision>2</cp:revision>
  <dc:subject>PptxGenJS Presentation</dc:subject>
  <dc:title>Sistem Inteligent pentru Predicția Riscului de Diabet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